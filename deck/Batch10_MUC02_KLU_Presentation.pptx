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5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Naishadh Vytla. We are Batch 10. Our use case: a bank reads every one of its 3,000 personal loan applications a month by hand. We built a model that takes the clear-cut declines out of that queue, and we will show you exactly how far it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Naishadh Vytla. Situation: 3,000 applications a month, 25 minutes each, which is about 1,250 analyst hours. Complication: many declines are obvious in the first minute, yet each still costs 25 minutes, and good applicants wait longer. Our question is not "build a model". It is which applications can safely leave manual review, at what threshold, within the bank's 5% risk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Naishadh Vytla. Dropping blank scores would have removed 8.7% of applicants, mostly young first-time borrowers, and hidden the group the model handles worst. Every fix leaves a flag, so later steps can see what was filled. The caveat matters most: we are predicting what analysts decided, not who repaid.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Raghunandan. Lower scores get fewer approvals, but the real finding is the cliff: below 650 analysts approve about 3 in 100. That is an unwritten rule, and exactly the kind of decision a pre-screener can apply with confidence. The grey bar, new to credit, sits in the middle, which warns us the model will struggle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Raghunandan. We built FOIR ourselves from existing EMIs, the proposed EMI and monthly income. Approval holds up to about 50% and then falls off a cliff. It later turned out to be the single strongest input 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Pradeepthi. Accuracy is 79.1%, but the number that matters is 225: creditworthy applicants who would be turned away at the default cut-off. The coefficients reassure us: affordability, late payments and credit score drive the model, the same policy we found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Pradeepthi. The bank sets the risk limit; the model only shows where it falls. At 0.5, one auto-decline in five would be a good customer. 0.85 still breaks the rule at 5.9%. 0.90 is the lowest threshold that meets it, auto-declining 15.2% of applications: about 456 a month, or 190 analyst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Pradeepthi. 8.7% of applicants have no bureau score. Analysts approve about half of them on judgement, and the model is barely better than a coin toss for them. Sending all of them to analysts makes the auto-decline lane safer at almost no cost. We considered 0.85 and chose not to take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Saketh. "We did not use gender, so it is fair" is the trap answer. We measured outcomes: a 3.7-point gap overall that almost disappears within gig and business-owner applicants. The model's auto-decline rates are within a point. Gaps remain inside salaried and self-employed, which is why we ask for monthly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Saketh. We recommend the model auto-declines only when it is at least 90% confident and the applicant has a credit score. That takes about 441 applications and 184 analyst hours a month out of the queue, with 3.1% wrongly declined. The decisions rest on the same two rules analysts already follow: affordability and credit score. New-to-credit applicants stay with humans. And before going live we need repayment data, because today the model copies analyst decisions, not repayment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Naishadh Vytla. We exported the model to JSON and rebuilt the scoring in JavaScript, so the Credit Policy Analyst can use it without opening a notebook. Here a borderline application scores 78%, below 0.90, so it goes to an analyst. The threshold view shows the same trade-off you just saw,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Saketh. Our biggest limitation is the target: past decisions, not repayment. We would add repayment data, run the lane in shadow mode for a month before it declines anyone, and monitor outcomes by gender. Thank you; questions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Naishadh Vytla. Click the video to play (2 minutes). This is Triage live at triagecreditscreener.netlify.app: the landing page scores an example in place, an analyst signs in, scores an application into one of three lanes, sets the bank's 5% policy at 0.90, triages a whole intake CSV and gets a report. Under the hood the model is trained once in Python and shipped as JSON, Supabase row-level security guards every user's data, and the browser scorer matches scikit-learn on 300 of 300 test rows.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566357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5" y="1935443"/>
            <a:ext cx="10566415" cy="41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566357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5" y="1935443"/>
            <a:ext cx="10566415" cy="41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7FC4C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CALIBO AI ACADEMY · PATH 2 · KLU BATCH 10 · MUC02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2103144"/>
            <a:ext cx="9810676" cy="162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AF2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Taking clear-cut declines out of the manual queue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785" y="3957212"/>
            <a:ext cx="9156626" cy="751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A9C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credit pre-screening engine for personal loans, and the threshold the bank can defend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85" y="5760641"/>
            <a:ext cx="6024651" cy="30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 err="1">
                <a:solidFill>
                  <a:srgbClr val="EAF2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Naishadh</a:t>
            </a:r>
            <a:r>
              <a:rPr lang="en-US" sz="1600" dirty="0">
                <a:solidFill>
                  <a:srgbClr val="EAF2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Raghunandan · Saketh · Pradeepthi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97968" y="5831785"/>
            <a:ext cx="3181174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FC4C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For the Credit Policy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3"/>
            <a:ext cx="10883348" cy="103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Every application gets 25 minutes, even the obvious 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2492317"/>
            <a:ext cx="3380317" cy="1796124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416" y="2747772"/>
            <a:ext cx="2955489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416" y="3463985"/>
            <a:ext cx="2955489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loan applications a month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769" y="2492317"/>
            <a:ext cx="3380391" cy="1796124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224" y="2747772"/>
            <a:ext cx="2955564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25 min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224" y="3463985"/>
            <a:ext cx="2955564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manual credit review for each 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51" y="2492317"/>
            <a:ext cx="3380317" cy="1796124"/>
          </a:xfrm>
          <a:prstGeom prst="roundRect">
            <a:avLst>
              <a:gd name="adj" fmla="val 5480"/>
            </a:avLst>
          </a:prstGeom>
          <a:solidFill>
            <a:srgbClr val="E4F0F1"/>
          </a:solidFill>
          <a:ln w="6350">
            <a:solidFill>
              <a:srgbClr val="B9D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106" y="2747772"/>
            <a:ext cx="2955489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B525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1,250 hrs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1106" y="3463985"/>
            <a:ext cx="2955489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B52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analyst time a month, and nearly half end in a decline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85" y="4647187"/>
            <a:ext cx="9810676" cy="751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question:</a:t>
            </a:r>
            <a:r>
              <a:rPr lang="en-US" sz="2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which applications can be auto-declined, and at what confidence, while keeping wrongly declined good customers at </a:t>
            </a:r>
            <a:r>
              <a:rPr lang="en-US" sz="22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 or less</a:t>
            </a:r>
            <a:r>
              <a:rPr lang="en-US" sz="2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CBIM canvas · Situation, Complication, Question · Batch 10 · MUC02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6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DATA · 12,000 APPLICATIONS · APR–SEP 2026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Three data issues, three decisions, no rows dropped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03"/>
            <a:ext cx="3380317" cy="2012054"/>
          </a:xfrm>
          <a:prstGeom prst="roundRect">
            <a:avLst>
              <a:gd name="adj" fmla="val 4892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416" y="2194058"/>
            <a:ext cx="2955489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1,039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416" y="2686771"/>
            <a:ext cx="2955489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Blank credit scores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416" y="3032199"/>
            <a:ext cx="2955489" cy="68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have zero months of credit history. They are new-to-credit applicants, not errors. Kept and flagged.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769" y="1938603"/>
            <a:ext cx="3380391" cy="2012054"/>
          </a:xfrm>
          <a:prstGeom prst="roundRect">
            <a:avLst>
              <a:gd name="adj" fmla="val 4892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1224" y="2194058"/>
            <a:ext cx="2955564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441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1224" y="2686771"/>
            <a:ext cx="295556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incomes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1224" y="3032199"/>
            <a:ext cx="2955564" cy="68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Mostly business owners and self-employed (11–13%). Filled with the median for that job type.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51" y="1938603"/>
            <a:ext cx="3380317" cy="2012054"/>
          </a:xfrm>
          <a:prstGeom prst="roundRect">
            <a:avLst>
              <a:gd name="adj" fmla="val 4892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1106" y="2194058"/>
            <a:ext cx="2955489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1106" y="2686771"/>
            <a:ext cx="2955489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Incomes above ₹6 lakh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1106" y="3032199"/>
            <a:ext cx="2955489" cy="467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salaried: annual salary typed as monthly. Divided by 12.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85" y="4258616"/>
            <a:ext cx="10566357" cy="954852"/>
          </a:xfrm>
          <a:prstGeom prst="roundRect">
            <a:avLst>
              <a:gd name="adj" fmla="val 10640"/>
            </a:avLst>
          </a:prstGeom>
          <a:solidFill>
            <a:srgbClr val="0E3B40"/>
          </a:solidFill>
          <a:ln/>
        </p:spPr>
      </p:sp>
      <p:pic>
        <p:nvPicPr>
          <p:cNvPr id="17" name="Image 0" descr="Warning"/>
          <p:cNvPicPr>
            <a:picLocks noChangeAspect="1"/>
          </p:cNvPicPr>
          <p:nvPr/>
        </p:nvPicPr>
        <p:blipFill>
          <a:blip r:embed="rId3"/>
          <a:srcRect t="-88" b="-88"/>
          <a:stretch/>
        </p:blipFill>
        <p:spPr>
          <a:xfrm>
            <a:off x="1066712" y="4583613"/>
            <a:ext cx="259880" cy="3047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78948" y="4461759"/>
            <a:ext cx="9935657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EAF2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SSOT caveat:</a:t>
            </a:r>
            <a:r>
              <a:rPr lang="en-US" sz="1600" dirty="0">
                <a:solidFill>
                  <a:srgbClr val="EAF2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decision column is past analyst judgement, not whether customers repaid. The model can only copy it.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5.1 · Naishadh Vytla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6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FINDING 1 · CREDIT SCORE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1379215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Below a score of 650, the bank almost never approves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99714" y="4547747"/>
            <a:ext cx="43885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2.0%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785" y="4811891"/>
            <a:ext cx="812785" cy="57106"/>
          </a:xfrm>
          <a:prstGeom prst="roundRect">
            <a:avLst>
              <a:gd name="adj" fmla="val 44479"/>
            </a:avLst>
          </a:prstGeom>
          <a:solidFill>
            <a:srgbClr val="B9541A"/>
          </a:solidFill>
          <a:ln/>
        </p:spPr>
      </p:sp>
      <p:sp>
        <p:nvSpPr>
          <p:cNvPr id="6" name="Text 4"/>
          <p:cNvSpPr/>
          <p:nvPr/>
        </p:nvSpPr>
        <p:spPr>
          <a:xfrm>
            <a:off x="1990284" y="4522318"/>
            <a:ext cx="43885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3.2%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03356" y="4786461"/>
            <a:ext cx="812785" cy="82535"/>
          </a:xfrm>
          <a:prstGeom prst="roundRect">
            <a:avLst>
              <a:gd name="adj" fmla="val 30775"/>
            </a:avLst>
          </a:prstGeom>
          <a:solidFill>
            <a:srgbClr val="B9541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79" y="3734963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32.5%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93927" y="3999105"/>
            <a:ext cx="812785" cy="869891"/>
          </a:xfrm>
          <a:prstGeom prst="roundRect">
            <a:avLst>
              <a:gd name="adj" fmla="val 3125"/>
            </a:avLst>
          </a:prstGeom>
          <a:solidFill>
            <a:srgbClr val="0F6E78"/>
          </a:solidFill>
          <a:ln/>
        </p:spPr>
      </p:sp>
      <p:sp>
        <p:nvSpPr>
          <p:cNvPr id="10" name="Text 8"/>
          <p:cNvSpPr/>
          <p:nvPr/>
        </p:nvSpPr>
        <p:spPr>
          <a:xfrm>
            <a:off x="3916650" y="3157068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54.4%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84498" y="3421211"/>
            <a:ext cx="812785" cy="1447785"/>
          </a:xfrm>
          <a:prstGeom prst="roundRect">
            <a:avLst>
              <a:gd name="adj" fmla="val 3125"/>
            </a:avLst>
          </a:prstGeom>
          <a:solidFill>
            <a:srgbClr val="0F6E78"/>
          </a:solidFill>
          <a:ln/>
        </p:spPr>
      </p:sp>
      <p:sp>
        <p:nvSpPr>
          <p:cNvPr id="12" name="Text 10"/>
          <p:cNvSpPr/>
          <p:nvPr/>
        </p:nvSpPr>
        <p:spPr>
          <a:xfrm>
            <a:off x="4907220" y="2547497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77.2%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5068" y="2811639"/>
            <a:ext cx="812785" cy="2057356"/>
          </a:xfrm>
          <a:prstGeom prst="roundRect">
            <a:avLst>
              <a:gd name="adj" fmla="val 3125"/>
            </a:avLst>
          </a:prstGeom>
          <a:solidFill>
            <a:srgbClr val="0F6E78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791" y="2331568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85.2%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5639" y="2595711"/>
            <a:ext cx="812785" cy="2273286"/>
          </a:xfrm>
          <a:prstGeom prst="roundRect">
            <a:avLst>
              <a:gd name="adj" fmla="val 3125"/>
            </a:avLst>
          </a:prstGeom>
          <a:solidFill>
            <a:srgbClr val="0F6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888361" y="3169783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9625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53.9%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56210" y="3433925"/>
            <a:ext cx="812785" cy="1435071"/>
          </a:xfrm>
          <a:prstGeom prst="roundRect">
            <a:avLst>
              <a:gd name="adj" fmla="val 3125"/>
            </a:avLst>
          </a:prstGeom>
          <a:solidFill>
            <a:srgbClr val="9AA5A2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85" y="4951487"/>
            <a:ext cx="6756210" cy="0"/>
          </a:xfrm>
          <a:prstGeom prst="line">
            <a:avLst/>
          </a:prstGeom>
          <a:noFill/>
          <a:ln w="12700">
            <a:solidFill>
              <a:srgbClr val="B8C1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385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&lt;600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77956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600–649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68527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650–699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59098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700–749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49668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750–799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40239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800+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30810" y="5030687"/>
            <a:ext cx="86358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75351" y="3262829"/>
            <a:ext cx="3505905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jumps </a:t>
            </a: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tenfold</a:t>
            </a: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across 650: from 3.2% to 32.5%.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75351" y="4009614"/>
            <a:ext cx="3505905" cy="87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New-to-credit applicants are approved 53.9% of the time: analysts use judgement there.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785" y="6238216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rate by credit score band, 12,000 applications · Step 5.2 · Raghunandan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FINDING 2 · AFFORDABILITY (FOIR)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883348" cy="103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Once EMIs take more than half of income, approvals collapse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46508" y="2917106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65.5%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785" y="3181248"/>
            <a:ext cx="1015927" cy="1746177"/>
          </a:xfrm>
          <a:prstGeom prst="roundRect">
            <a:avLst>
              <a:gd name="adj" fmla="val 2500"/>
            </a:avLst>
          </a:prstGeom>
          <a:solidFill>
            <a:srgbClr val="0F6E78"/>
          </a:solidFill>
          <a:ln/>
        </p:spPr>
      </p:sp>
      <p:sp>
        <p:nvSpPr>
          <p:cNvPr id="6" name="Text 4"/>
          <p:cNvSpPr/>
          <p:nvPr/>
        </p:nvSpPr>
        <p:spPr>
          <a:xfrm>
            <a:off x="2316361" y="3088497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59.0%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82639" y="3352639"/>
            <a:ext cx="1015927" cy="1574785"/>
          </a:xfrm>
          <a:prstGeom prst="roundRect">
            <a:avLst>
              <a:gd name="adj" fmla="val 2500"/>
            </a:avLst>
          </a:prstGeom>
          <a:solidFill>
            <a:srgbClr val="0F6E78"/>
          </a:solidFill>
          <a:ln/>
        </p:spPr>
      </p:sp>
      <p:sp>
        <p:nvSpPr>
          <p:cNvPr id="8" name="Text 6"/>
          <p:cNvSpPr/>
          <p:nvPr/>
        </p:nvSpPr>
        <p:spPr>
          <a:xfrm>
            <a:off x="3586215" y="3386962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47.8%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2492" y="3651104"/>
            <a:ext cx="1015927" cy="1276321"/>
          </a:xfrm>
          <a:prstGeom prst="roundRect">
            <a:avLst>
              <a:gd name="adj" fmla="val 2500"/>
            </a:avLst>
          </a:prstGeom>
          <a:solidFill>
            <a:srgbClr val="0F6E78"/>
          </a:solidFill>
          <a:ln/>
        </p:spPr>
      </p:sp>
      <p:sp>
        <p:nvSpPr>
          <p:cNvPr id="10" name="Text 8"/>
          <p:cNvSpPr/>
          <p:nvPr/>
        </p:nvSpPr>
        <p:spPr>
          <a:xfrm>
            <a:off x="4856068" y="3799712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32.4%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2345" y="4063854"/>
            <a:ext cx="1015927" cy="863571"/>
          </a:xfrm>
          <a:prstGeom prst="roundRect">
            <a:avLst>
              <a:gd name="adj" fmla="val 2941"/>
            </a:avLst>
          </a:prstGeom>
          <a:solidFill>
            <a:srgbClr val="B9541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5921" y="4244212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15.6%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2198" y="4508354"/>
            <a:ext cx="1015927" cy="419071"/>
          </a:xfrm>
          <a:prstGeom prst="roundRect">
            <a:avLst>
              <a:gd name="adj" fmla="val 6061"/>
            </a:avLst>
          </a:prstGeom>
          <a:solidFill>
            <a:srgbClr val="B9541A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85" y="5009917"/>
            <a:ext cx="6095339" cy="0"/>
          </a:xfrm>
          <a:prstGeom prst="line">
            <a:avLst/>
          </a:prstGeom>
          <a:noFill/>
          <a:ln w="12700">
            <a:solidFill>
              <a:srgbClr val="B8C1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385" y="5089116"/>
            <a:ext cx="1066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30%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239" y="5089116"/>
            <a:ext cx="1066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30–40%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7092" y="5089116"/>
            <a:ext cx="1066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40–50%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6945" y="5089116"/>
            <a:ext cx="1066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50–55%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66798" y="5089116"/>
            <a:ext cx="1066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55%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4481" y="2574469"/>
            <a:ext cx="4186602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FOIR = (existing EMIs + new EMI) ÷ monthly income.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4481" y="3321258"/>
            <a:ext cx="4186602" cy="87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policy:</a:t>
            </a: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50% FOIR limit, with 50–55% as an exception band that needs sign-off.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4481" y="4352544"/>
            <a:ext cx="4186602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1,715 applicants (14%) are already above 55%.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rate by FOIR band · Step 5.3 · Raghunandan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MODEL · LOGISTIC REGRESSION · TEST SET OF 2,400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883348" cy="103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79% accurate, but accuracy is not the number the bank cares about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2441532"/>
            <a:ext cx="4057577" cy="2776332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6350">
            <a:solidFill>
              <a:srgbClr val="D3D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416" y="2696986"/>
            <a:ext cx="365306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225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71416" y="3585911"/>
            <a:ext cx="3653066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customers the bank approved would be </a:t>
            </a: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declined</a:t>
            </a: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at the default 0.5 cut-off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416" y="4535692"/>
            <a:ext cx="3653066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280 a month. One in five automatic declines would be wrong. ROC-AUC 0.867.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81498" y="2438357"/>
            <a:ext cx="638357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pushes an application towards decline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81498" y="2796499"/>
            <a:ext cx="19620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13351" y="2814284"/>
            <a:ext cx="2539927" cy="177785"/>
          </a:xfrm>
          <a:prstGeom prst="roundRect">
            <a:avLst>
              <a:gd name="adj" fmla="val 14287"/>
            </a:avLst>
          </a:prstGeom>
          <a:solidFill>
            <a:srgbClr val="B9541A"/>
          </a:solidFill>
          <a:ln/>
        </p:spPr>
      </p:sp>
      <p:sp>
        <p:nvSpPr>
          <p:cNvPr id="11" name="Text 9"/>
          <p:cNvSpPr/>
          <p:nvPr/>
        </p:nvSpPr>
        <p:spPr>
          <a:xfrm>
            <a:off x="9880205" y="2796499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+1.22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81498" y="3124141"/>
            <a:ext cx="19620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 payments (24m)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13351" y="3141926"/>
            <a:ext cx="2038321" cy="177785"/>
          </a:xfrm>
          <a:prstGeom prst="roundRect">
            <a:avLst>
              <a:gd name="adj" fmla="val 14287"/>
            </a:avLst>
          </a:prstGeom>
          <a:solidFill>
            <a:srgbClr val="B9541A"/>
          </a:solidFill>
          <a:ln/>
        </p:spPr>
      </p:sp>
      <p:sp>
        <p:nvSpPr>
          <p:cNvPr id="14" name="Text 12"/>
          <p:cNvSpPr/>
          <p:nvPr/>
        </p:nvSpPr>
        <p:spPr>
          <a:xfrm>
            <a:off x="9378598" y="3124141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+0.98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1498" y="3451783"/>
            <a:ext cx="19620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Gig / Contract job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13351" y="3469568"/>
            <a:ext cx="1289035" cy="177785"/>
          </a:xfrm>
          <a:prstGeom prst="roundRect">
            <a:avLst>
              <a:gd name="adj" fmla="val 14287"/>
            </a:avLst>
          </a:prstGeom>
          <a:solidFill>
            <a:srgbClr val="B9541A"/>
          </a:solidFill>
          <a:ln/>
        </p:spPr>
      </p:sp>
      <p:sp>
        <p:nvSpPr>
          <p:cNvPr id="17" name="Text 15"/>
          <p:cNvSpPr/>
          <p:nvPr/>
        </p:nvSpPr>
        <p:spPr>
          <a:xfrm>
            <a:off x="8629313" y="3451783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+0.62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1498" y="3779425"/>
            <a:ext cx="19620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Salaried job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13351" y="3797213"/>
            <a:ext cx="927071" cy="177785"/>
          </a:xfrm>
          <a:prstGeom prst="roundRect">
            <a:avLst>
              <a:gd name="adj" fmla="val 14287"/>
            </a:avLst>
          </a:prstGeom>
          <a:solidFill>
            <a:srgbClr val="0F6E78"/>
          </a:solidFill>
          <a:ln/>
        </p:spPr>
      </p:sp>
      <p:sp>
        <p:nvSpPr>
          <p:cNvPr id="20" name="Text 18"/>
          <p:cNvSpPr/>
          <p:nvPr/>
        </p:nvSpPr>
        <p:spPr>
          <a:xfrm>
            <a:off x="8267348" y="3779425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−0.44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81498" y="4107067"/>
            <a:ext cx="19620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Credit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13351" y="4124855"/>
            <a:ext cx="2101821" cy="177785"/>
          </a:xfrm>
          <a:prstGeom prst="roundRect">
            <a:avLst>
              <a:gd name="adj" fmla="val 14287"/>
            </a:avLst>
          </a:prstGeom>
          <a:solidFill>
            <a:srgbClr val="0F6E78"/>
          </a:solidFill>
          <a:ln/>
        </p:spPr>
      </p:sp>
      <p:sp>
        <p:nvSpPr>
          <p:cNvPr id="23" name="Text 21"/>
          <p:cNvSpPr/>
          <p:nvPr/>
        </p:nvSpPr>
        <p:spPr>
          <a:xfrm>
            <a:off x="9442098" y="4107067"/>
            <a:ext cx="54848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19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−1.01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1498" y="4434712"/>
            <a:ext cx="6383574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Orange (+) pushes towards decline; teal (−) pulls towards approval. The model learned the same two rules analysts follow.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Scaled features · gender, city, ID and date excluded · Step 5.4 · Pradeepthi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THRESHOLD · THE BANK'S 5% RULE DECIDES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0.90 is the lowest threshold inside the 5% limit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893978"/>
          <a:ext cx="6594520" cy="3060936"/>
        </p:xfrm>
        <a:graphic>
          <a:graphicData uri="http://schemas.openxmlformats.org/drawingml/2006/table">
            <a:tbl>
              <a:tblPr/>
              <a:tblGrid>
                <a:gridCol w="1450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Threshold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Auto-declined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Wrongly declined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5% rule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44.9%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20.9%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23A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37.6%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16.8%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23A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30.8%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23A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23A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19.7%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5.9%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23A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15.2%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525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10.0%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525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284" y="1884570"/>
            <a:ext cx="3606859" cy="2600634"/>
          </a:xfrm>
          <a:prstGeom prst="roundRect">
            <a:avLst>
              <a:gd name="adj" fmla="val 3907"/>
            </a:avLst>
          </a:prstGeom>
          <a:solidFill>
            <a:srgbClr val="0E3B40"/>
          </a:solidFill>
          <a:ln/>
        </p:spPr>
      </p:sp>
      <p:sp>
        <p:nvSpPr>
          <p:cNvPr id="6" name="Text 3"/>
          <p:cNvSpPr/>
          <p:nvPr/>
        </p:nvSpPr>
        <p:spPr>
          <a:xfrm>
            <a:off x="8026210" y="2138496"/>
            <a:ext cx="319197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FC4C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AT 0.90, EVERY MONTH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26210" y="2504210"/>
            <a:ext cx="3191976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AF2F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~456 apps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26210" y="3047709"/>
            <a:ext cx="3191976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AF2F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~190 hours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26210" y="3591207"/>
            <a:ext cx="3191976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C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leave the manual queue, with 4.7% of them good customers the bank would have approved.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set, all applicants · scaled to 3,000 applications × 25 minutes · Step 5.5 · Pradeepthi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WHO THE MODEL MUST NOT DECIDE FOR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New-to-credit applicants always go to an analyst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01"/>
            <a:ext cx="3380317" cy="2324262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416" y="2194058"/>
            <a:ext cx="2955489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56.7%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416" y="2910269"/>
            <a:ext cx="2955489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accuracy for applicants with no credit score, against 81.2% for scored applicants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769" y="1938601"/>
            <a:ext cx="3380391" cy="2324262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224" y="2194058"/>
            <a:ext cx="2955564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954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 of 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224" y="2910269"/>
            <a:ext cx="2955564" cy="112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new-to-credit applicants the model would auto-decline at 0.90 were approved by the bank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51" y="1938601"/>
            <a:ext cx="3380317" cy="2324262"/>
          </a:xfrm>
          <a:prstGeom prst="roundRect">
            <a:avLst>
              <a:gd name="adj" fmla="val 4235"/>
            </a:avLst>
          </a:prstGeom>
          <a:solidFill>
            <a:srgbClr val="E4F0F1"/>
          </a:solidFill>
          <a:ln w="6350">
            <a:solidFill>
              <a:srgbClr val="B9D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106" y="2194058"/>
            <a:ext cx="2955489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B525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4.7 → 3.1%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1106" y="2910269"/>
            <a:ext cx="2955489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0B52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 declines once they are routed to analysts, for half a point of volume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85" y="4570822"/>
            <a:ext cx="9810676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them excluded, 0.85 also passes the rule (4.8%), but a 0.2-point margin on 2,400 applications is too thin for a first launch. We keep 0.90.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785" y="623821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set · 203 new-to-credit applicants · Steps 5.4–5.5 · Pradeepthi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FAIRNESS CHECK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1379215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The gender gap comes mostly from income and job mix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919406"/>
          <a:ext cx="6340521" cy="2678319"/>
        </p:xfrm>
        <a:graphic>
          <a:graphicData uri="http://schemas.openxmlformats.org/drawingml/2006/table">
            <a:tbl>
              <a:tblPr/>
              <a:tblGrid>
                <a:gridCol w="2789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rate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Women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applicants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50.4%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54.1%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3.7 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Gig / Contract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34.6%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35.2%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 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Owner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51.6%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−0.6 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Salaried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56.8%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2.3 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Self-Employed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47.6%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52.0%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4.3 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617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 auto-declines at 0.90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15.1%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14.5%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 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18284" y="1909998"/>
            <a:ext cx="3976685" cy="87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Women earn less (₹45K vs ₹55K median) and are almost twice as likely to be gig workers (21% vs 12%).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18284" y="2915859"/>
            <a:ext cx="3976685" cy="144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does not widen the gap.</a:t>
            </a:r>
            <a:r>
              <a:rPr lang="en-US" sz="1600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Leaving gender out is necessary, not sufficient: income and job type can act as proxies, so report outcomes by gender every month.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Gender is never a model input · auto-decline rates with new-to-credit routed to analysts · Step 5.6 · Saketh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7FC4C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RECOMMENDATION TO THE CREDIT POLICY ANALYST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78496"/>
            <a:ext cx="10464726" cy="103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AF2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Auto-decline at 90% confidence, and only for applicants with a credit score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3164973"/>
            <a:ext cx="2489215" cy="0"/>
          </a:xfrm>
          <a:prstGeom prst="line">
            <a:avLst/>
          </a:prstGeom>
          <a:noFill/>
          <a:ln w="19050">
            <a:solidFill>
              <a:srgbClr val="7FC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85" y="3326619"/>
            <a:ext cx="2563891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AF2F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14.7%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785" y="4017473"/>
            <a:ext cx="2563891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C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applications leave the queue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05141" y="3164973"/>
            <a:ext cx="2489289" cy="0"/>
          </a:xfrm>
          <a:prstGeom prst="line">
            <a:avLst/>
          </a:prstGeom>
          <a:noFill/>
          <a:ln w="19050">
            <a:solidFill>
              <a:srgbClr val="7FC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5141" y="3326619"/>
            <a:ext cx="2563967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AF2F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~441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05141" y="4017473"/>
            <a:ext cx="2563967" cy="30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C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a month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7571" y="3164973"/>
            <a:ext cx="2489215" cy="0"/>
          </a:xfrm>
          <a:prstGeom prst="line">
            <a:avLst/>
          </a:prstGeom>
          <a:noFill/>
          <a:ln w="19050">
            <a:solidFill>
              <a:srgbClr val="7FC4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7571" y="3326619"/>
            <a:ext cx="2563891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AF2F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~184 hrs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97571" y="4017473"/>
            <a:ext cx="2563891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C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analyst time freed a month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89928" y="3164973"/>
            <a:ext cx="2489215" cy="0"/>
          </a:xfrm>
          <a:prstGeom prst="line">
            <a:avLst/>
          </a:prstGeom>
          <a:noFill/>
          <a:ln w="19050">
            <a:solidFill>
              <a:srgbClr val="F2B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9928" y="3326619"/>
            <a:ext cx="2563891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B66B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3.1%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889928" y="4017473"/>
            <a:ext cx="2563891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C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wrongly declined, inside the 5% limit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85" y="5557496"/>
            <a:ext cx="11379215" cy="30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AF2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write the 650 score floor and a 50% FOIR limit into policy, and report outcomes by gender every month.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785" y="623821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C4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5.7 · Credit Policy Briefing · Saketh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1550603"/>
            <a:ext cx="366260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BEYOND THE BRIEF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941748"/>
            <a:ext cx="3662605" cy="103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Triage: the model, deployed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5" y="3125391"/>
            <a:ext cx="3662605" cy="1163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trained model runs in the browser. The analyst can score an application, move the threshold against the 5% rule, and triage a whole intake file.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5" y="4441180"/>
            <a:ext cx="3662605" cy="68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site on Netlify, no server, data never leaves the browser. Matches scikit-learn to within 1e-10 on all 2,400 test applications.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75068" y="1263681"/>
            <a:ext cx="6603927" cy="4127427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/>
        </p:spPr>
      </p:sp>
      <p:pic>
        <p:nvPicPr>
          <p:cNvPr id="7" name="Image 0" descr="Triage web app scoring a borderline application: analyst review at 78% decline confidence, below the 0.90 threshold"/>
          <p:cNvPicPr>
            <a:picLocks noChangeAspect="1"/>
          </p:cNvPicPr>
          <p:nvPr/>
        </p:nvPicPr>
        <p:blipFill>
          <a:blip r:embed="rId3"/>
          <a:srcRect l="-58" r="-58"/>
          <a:stretch/>
        </p:blipFill>
        <p:spPr>
          <a:xfrm>
            <a:off x="4781418" y="1270031"/>
            <a:ext cx="6591227" cy="4114727"/>
          </a:xfrm>
          <a:prstGeom prst="roundRect">
            <a:avLst>
              <a:gd name="adj" fmla="val 1698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778243" y="1266856"/>
            <a:ext cx="6597577" cy="4121077"/>
          </a:xfrm>
          <a:prstGeom prst="roundRect">
            <a:avLst>
              <a:gd name="adj" fmla="val 1772"/>
            </a:avLst>
          </a:prstGeom>
          <a:noFill/>
          <a:ln w="6350">
            <a:solidFill>
              <a:srgbClr val="CCD5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785" y="623821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app/index.html · model/train_export.py · Naishadh Vytla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riage walkthrough video" descr="Two-minute walkthrough of the deployed Triage app at triagecreditscreener.netlify.app: landing page, scoring an application, the threshold policy, batch intake, the intake report, the architecture, and the 300/300 parity check.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F6E7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LIMITATIONS AND NEXT STEPS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9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Before going live, the bank needs repayment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04"/>
            <a:ext cx="3380317" cy="1506626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6350">
            <a:solidFill>
              <a:srgbClr val="D3D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416" y="2194061"/>
            <a:ext cx="2955489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decisions to repayment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416" y="2526773"/>
            <a:ext cx="2955489" cy="68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 the model copies analyst judgement, including any bias. Train on 12-month repayment outcomes instead.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769" y="1938604"/>
            <a:ext cx="3380391" cy="1506626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6350">
            <a:solidFill>
              <a:srgbClr val="D3DC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224" y="2194061"/>
            <a:ext cx="295556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in shadow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1224" y="2526773"/>
            <a:ext cx="2955564" cy="68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live applications for a month without declining any. If wrong declines stay well under 5%, test 0.85.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651" y="1938604"/>
            <a:ext cx="3380317" cy="1506626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6350">
            <a:solidFill>
              <a:srgbClr val="D3DC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106" y="2194061"/>
            <a:ext cx="2955489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9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 by gender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1106" y="2526773"/>
            <a:ext cx="2955489" cy="68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approval and auto-decline rates by gender every month, and investigate if the gap grows.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3762598"/>
          <a:ext cx="10556950" cy="1646665"/>
        </p:xfrm>
        <a:graphic>
          <a:graphicData uri="http://schemas.openxmlformats.org/drawingml/2006/table">
            <a:tbl>
              <a:tblPr/>
              <a:tblGrid>
                <a:gridCol w="2322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1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Batch 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Cross-cutting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Naishadh Vytla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CBIM canvas (led), 5.1 cleaning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Notebook assembly, Triage web app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2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Raghunandan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5.2 approval drivers, 5.3 FOIR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consistency, team documentation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Pradeepthi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5.4 model, 5.5 threshold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Presentation deck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3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Saketh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5.6 fairness, 5.7 briefing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19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QA, 1-page summary, checklist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Calibo AI Academy · Path 2 · KLU Batch 10 · MUC02 · Six months of simulated data, April–September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tch 10 MUC02 Credit Pre-Screening Deck">
  <a:themeElements>
    <a:clrScheme name="Batch 10 MUC02 Credit Pre-Screening Deck">
      <a:dk1>
        <a:srgbClr val="161918"/>
      </a:dk1>
      <a:lt1>
        <a:srgbClr val="F6F7F6"/>
      </a:lt1>
      <a:dk2>
        <a:srgbClr val="4E5150"/>
      </a:dk2>
      <a:lt2>
        <a:srgbClr val="E0E1E0"/>
      </a:lt2>
      <a:accent1>
        <a:srgbClr val="0F6E78"/>
      </a:accent1>
      <a:accent2>
        <a:srgbClr val="B9541A"/>
      </a:accent2>
      <a:accent3>
        <a:srgbClr val="7FC4CA"/>
      </a:accent3>
      <a:accent4>
        <a:srgbClr val="0E3B40"/>
      </a:accent4>
      <a:accent5>
        <a:srgbClr val="0B5259"/>
      </a:accent5>
      <a:accent6>
        <a:srgbClr val="F2B66B"/>
      </a:accent6>
      <a:hlink>
        <a:srgbClr val="0563C1"/>
      </a:hlink>
      <a:folHlink>
        <a:srgbClr val="954F72"/>
      </a:folHlink>
    </a:clrScheme>
    <a:fontScheme name="Batch 10 MUC02 Credit Pre-Screening Deck">
      <a:majorFont>
        <a:latin typeface="IBM Plex Sans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2038</Words>
  <Application>Microsoft Office PowerPoint</Application>
  <PresentationFormat>Widescreen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IBM Plex Mono</vt:lpstr>
      <vt:lpstr>IBM Plex Sans</vt:lpstr>
      <vt:lpstr>IBM Plex Sans Condensed</vt:lpstr>
      <vt:lpstr>Batch 10 MUC02 Credit Pre-Screening Deck</vt:lpstr>
      <vt:lpstr>Taking clear-cut declines out of the manual queue</vt:lpstr>
      <vt:lpstr>Every application gets 25 minutes, even the obvious ones</vt:lpstr>
      <vt:lpstr>Three data issues, three decisions, no rows dropped</vt:lpstr>
      <vt:lpstr>Below a score of 650, the bank almost never approves</vt:lpstr>
      <vt:lpstr>Once EMIs take more than half of income, approvals collapse</vt:lpstr>
      <vt:lpstr>79% accurate, but accuracy is not the number the bank cares about</vt:lpstr>
      <vt:lpstr>0.90 is the lowest threshold inside the 5% limit</vt:lpstr>
      <vt:lpstr>New-to-credit applicants always go to an analyst</vt:lpstr>
      <vt:lpstr>The gender gap comes mostly from income and job mix</vt:lpstr>
      <vt:lpstr>Auto-decline at 90% confidence, and only for applicants with a credit score</vt:lpstr>
      <vt:lpstr>Triage: the model, deployed</vt:lpstr>
      <vt:lpstr>Before going live, the bank needs repayment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10 MUC02 Credit Pre-Screening Deck</dc:title>
  <dc:subject/>
  <dc:creator/>
  <cp:lastModifiedBy>VYTLA NAISHADH</cp:lastModifiedBy>
  <cp:revision>2</cp:revision>
  <dcterms:created xsi:type="dcterms:W3CDTF">2026-10-27T15:42:36Z</dcterms:created>
  <dcterms:modified xsi:type="dcterms:W3CDTF">2026-10-29T04:16:47Z</dcterms:modified>
</cp:coreProperties>
</file>